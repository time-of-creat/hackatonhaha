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ExtraBold" panose="020B0604020202020204" charset="0"/>
      <p:bold r:id="rId16"/>
      <p:boldItalic r:id="rId17"/>
    </p:embeddedFont>
    <p:embeddedFont>
      <p:font typeface="Montserrat" panose="00000500000000000000" pitchFamily="2" charset="-52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аксим Семёнов" userId="d68b7352d6021242" providerId="LiveId" clId="{95125DF1-3774-45AB-A9D2-7FBF3C8D7282}"/>
    <pc:docChg chg="modSld">
      <pc:chgData name="Максим Семёнов" userId="d68b7352d6021242" providerId="LiveId" clId="{95125DF1-3774-45AB-A9D2-7FBF3C8D7282}" dt="2026-10-08T14:00:06.997" v="87" actId="20577"/>
      <pc:docMkLst>
        <pc:docMk/>
      </pc:docMkLst>
      <pc:sldChg chg="modSp mod">
        <pc:chgData name="Максим Семёнов" userId="d68b7352d6021242" providerId="LiveId" clId="{95125DF1-3774-45AB-A9D2-7FBF3C8D7282}" dt="2026-10-08T13:57:14.654" v="0" actId="20577"/>
        <pc:sldMkLst>
          <pc:docMk/>
          <pc:sldMk cId="0" sldId="256"/>
        </pc:sldMkLst>
        <pc:spChg chg="mod">
          <ac:chgData name="Максим Семёнов" userId="d68b7352d6021242" providerId="LiveId" clId="{95125DF1-3774-45AB-A9D2-7FBF3C8D7282}" dt="2026-10-08T13:57:14.654" v="0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Максим Семёнов" userId="d68b7352d6021242" providerId="LiveId" clId="{95125DF1-3774-45AB-A9D2-7FBF3C8D7282}" dt="2026-10-08T13:57:56.924" v="30" actId="20577"/>
        <pc:sldMkLst>
          <pc:docMk/>
          <pc:sldMk cId="0" sldId="257"/>
        </pc:sldMkLst>
        <pc:spChg chg="mod">
          <ac:chgData name="Максим Семёнов" userId="d68b7352d6021242" providerId="LiveId" clId="{95125DF1-3774-45AB-A9D2-7FBF3C8D7282}" dt="2026-10-08T13:57:56.924" v="30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Максим Семёнов" userId="d68b7352d6021242" providerId="LiveId" clId="{95125DF1-3774-45AB-A9D2-7FBF3C8D7282}" dt="2026-10-08T13:59:05.199" v="40" actId="20577"/>
        <pc:sldMkLst>
          <pc:docMk/>
          <pc:sldMk cId="0" sldId="263"/>
        </pc:sldMkLst>
        <pc:spChg chg="mod">
          <ac:chgData name="Максим Семёнов" userId="d68b7352d6021242" providerId="LiveId" clId="{95125DF1-3774-45AB-A9D2-7FBF3C8D7282}" dt="2026-10-08T13:59:05.199" v="40" actId="20577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Максим Семёнов" userId="d68b7352d6021242" providerId="LiveId" clId="{95125DF1-3774-45AB-A9D2-7FBF3C8D7282}" dt="2026-10-08T14:00:06.997" v="87" actId="20577"/>
        <pc:sldMkLst>
          <pc:docMk/>
          <pc:sldMk cId="0" sldId="264"/>
        </pc:sldMkLst>
        <pc:spChg chg="mod">
          <ac:chgData name="Максим Семёнов" userId="d68b7352d6021242" providerId="LiveId" clId="{95125DF1-3774-45AB-A9D2-7FBF3C8D7282}" dt="2026-10-08T14:00:06.997" v="87" actId="20577"/>
          <ac:spMkLst>
            <pc:docMk/>
            <pc:sldMk cId="0" sldId="264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91200" y="5277594"/>
            <a:ext cx="609600" cy="38100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79031" y="1542157"/>
            <a:ext cx="4833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31837"/>
                </a:solidFill>
                <a:latin typeface="Montserrat"/>
              </a:rPr>
              <a:t>ТЕХНИЧЕСКИЙ ТРЕК DATA MATCH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296" y="1951732"/>
            <a:ext cx="11251406" cy="13593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dirty="0" err="1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Прогноз</a:t>
            </a:r>
            <a:r>
              <a:rPr sz="4800" b="1" dirty="0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спроса</a:t>
            </a:r>
            <a:r>
              <a:rPr sz="4800" b="1" dirty="0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 </a:t>
            </a:r>
            <a:r>
              <a:rPr lang="ru-RU" sz="4800" b="1" dirty="0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н</a:t>
            </a:r>
            <a:r>
              <a:rPr sz="4800" b="1" dirty="0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а</a:t>
            </a:r>
            <a:r>
              <a:rPr lang="ru-RU" sz="4800" b="1" dirty="0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 </a:t>
            </a:r>
            <a:r>
              <a:rPr sz="4800" b="1" dirty="0" err="1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билеты</a:t>
            </a:r>
            <a:r>
              <a:rPr b="1" dirty="0">
                <a:latin typeface="Inter ExtraBold" panose="02000503000000020004" pitchFamily="2" charset="0"/>
                <a:ea typeface="Inter ExtraBold" panose="02000503000000020004" pitchFamily="2" charset="0"/>
              </a:rPr>
              <a:t>
</a:t>
            </a:r>
            <a:r>
              <a:rPr sz="4800" b="1" dirty="0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 ХК «</a:t>
            </a:r>
            <a:r>
              <a:rPr sz="4800" b="1" dirty="0" err="1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Авангард</a:t>
            </a:r>
            <a:r>
              <a:rPr sz="4800" b="1" dirty="0">
                <a:solidFill>
                  <a:srgbClr val="FFFFFF"/>
                </a:solidFill>
                <a:latin typeface="Inter ExtraBold" panose="02000503000000020004" pitchFamily="2" charset="0"/>
                <a:ea typeface="Inter ExtraBold" panose="02000503000000020004" pitchFamily="2" charset="0"/>
              </a:rPr>
              <a:t>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4267944"/>
            <a:ext cx="83343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 err="1">
                <a:solidFill>
                  <a:srgbClr val="A1A1AA"/>
                </a:solidFill>
                <a:latin typeface="Inter"/>
              </a:rPr>
              <a:t>Нейросетевая</a:t>
            </a:r>
            <a:r>
              <a:rPr sz="1800" b="0" i="0" u="none" dirty="0">
                <a:solidFill>
                  <a:srgbClr val="A1A1AA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A1A1AA"/>
                </a:solidFill>
                <a:latin typeface="Inter"/>
              </a:rPr>
              <a:t>оценка</a:t>
            </a:r>
            <a:r>
              <a:rPr sz="1800" b="0" i="0" u="none" dirty="0">
                <a:solidFill>
                  <a:srgbClr val="A1A1AA"/>
                </a:solidFill>
                <a:latin typeface="Inter"/>
              </a:rPr>
              <a:t> </a:t>
            </a:r>
            <a:r>
              <a:rPr sz="1800" b="0" i="0" u="none" dirty="0" err="1">
                <a:solidFill>
                  <a:srgbClr val="A1A1AA"/>
                </a:solidFill>
                <a:latin typeface="Inter"/>
              </a:rPr>
              <a:t>заполняемости</a:t>
            </a:r>
            <a:r>
              <a:rPr sz="1800" b="0" i="0" u="none" dirty="0">
                <a:solidFill>
                  <a:srgbClr val="A1A1AA"/>
                </a:solidFill>
                <a:latin typeface="Inter"/>
              </a:rPr>
              <a:t> G-Drive </a:t>
            </a:r>
            <a:r>
              <a:rPr sz="1800" b="0" i="0" u="none" dirty="0" err="1">
                <a:solidFill>
                  <a:srgbClr val="A1A1AA"/>
                </a:solidFill>
                <a:latin typeface="Inter"/>
              </a:rPr>
              <a:t>Арены</a:t>
            </a:r>
            <a:r>
              <a:rPr sz="1800" b="0" i="0" u="none" dirty="0">
                <a:solidFill>
                  <a:srgbClr val="A1A1AA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67037"/>
            <a:ext cx="3454449" cy="2409825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33687"/>
            <a:ext cx="3454449" cy="2676525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33687"/>
            <a:ext cx="3454449" cy="2676525"/>
          </a:xfrm>
          <a:prstGeom prst="roundRect">
            <a:avLst>
              <a:gd name="adj" fmla="val 56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424237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49" y="329088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99" y="3290887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762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31837"/>
                </a:solidFill>
                <a:latin typeface="Montserrat"/>
              </a:rPr>
              <a:t>БИЗНЕС-КОНТЕКСТ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85850"/>
            <a:ext cx="1158240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 dirty="0" err="1">
                <a:solidFill>
                  <a:srgbClr val="111111"/>
                </a:solidFill>
                <a:latin typeface="Montserrat"/>
              </a:rPr>
              <a:t>Постановка</a:t>
            </a:r>
            <a:r>
              <a:rPr sz="3600" b="1" i="0" u="none" dirty="0">
                <a:solidFill>
                  <a:srgbClr val="111111"/>
                </a:solidFill>
                <a:latin typeface="Montserrat"/>
              </a:rPr>
              <a:t> </a:t>
            </a:r>
            <a:r>
              <a:rPr sz="3600" b="1" i="0" u="none" dirty="0" err="1">
                <a:solidFill>
                  <a:srgbClr val="111111"/>
                </a:solidFill>
                <a:latin typeface="Montserrat"/>
              </a:rPr>
              <a:t>задачи</a:t>
            </a:r>
            <a:endParaRPr sz="3600" b="1" i="0" u="none" dirty="0">
              <a:solidFill>
                <a:srgbClr val="111111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800" y="3957637"/>
            <a:ext cx="333381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Объем прогноза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386262"/>
            <a:ext cx="2635299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17 будущих матчей в разрезе 8 ценовых зон.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49" y="3824287"/>
            <a:ext cx="333381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Слепой прогноз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49" y="4252912"/>
            <a:ext cx="2635299" cy="7866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ru-RU" sz="1500" b="0" i="0" u="none" dirty="0">
                <a:solidFill>
                  <a:srgbClr val="4B5563"/>
                </a:solidFill>
                <a:latin typeface="Inter"/>
              </a:rPr>
              <a:t>Обучение на данных из прошлого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.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Полное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исключение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утечек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85299" y="3824287"/>
            <a:ext cx="333381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Целевая метрика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5299" y="4252912"/>
            <a:ext cx="26352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Нормированная доля проданных мест к началу игры.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003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70350" y="24003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31100" y="24003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762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31837"/>
                </a:solidFill>
                <a:latin typeface="Montserrat"/>
              </a:rPr>
              <a:t>МЕТОДОЛОГИЯ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85850"/>
            <a:ext cx="1158240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11111"/>
                </a:solidFill>
                <a:latin typeface="Montserrat"/>
              </a:rPr>
              <a:t>Архитектура валидации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725" y="2400300"/>
            <a:ext cx="8191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62300"/>
            <a:ext cx="426713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Временной сплит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90925"/>
            <a:ext cx="33464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Строгое разделение. 80% матчей — прошлое, 20% — будущее.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7475" y="2400300"/>
            <a:ext cx="8191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0350" y="3162300"/>
            <a:ext cx="4267134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Динамические срезы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0350" y="3590925"/>
            <a:ext cx="33464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Обучение модели на ежедневной динамике продаж.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8225" y="2400300"/>
            <a:ext cx="81915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162300"/>
            <a:ext cx="3860899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Контроль утечек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590925"/>
            <a:ext cx="33464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Анализ 43 признаков. Аномальных корреляций нет.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47900"/>
            <a:ext cx="25717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09950" y="2247900"/>
            <a:ext cx="25717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0300" y="2247900"/>
            <a:ext cx="25717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010650" y="2247900"/>
            <a:ext cx="25717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247900"/>
            <a:ext cx="2571750" cy="38100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09950" y="2247900"/>
            <a:ext cx="2571750" cy="38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2247900"/>
            <a:ext cx="2571750" cy="38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10650" y="2247900"/>
            <a:ext cx="2571750" cy="38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762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31837"/>
                </a:solidFill>
                <a:latin typeface="Montserrat"/>
              </a:rPr>
              <a:t>ДАННЫЕ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085850"/>
            <a:ext cx="1158240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11111"/>
                </a:solidFill>
                <a:latin typeface="Montserrat"/>
              </a:rPr>
              <a:t>Признаковое пространство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3626346"/>
            <a:ext cx="237529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Montserrat"/>
              </a:rPr>
              <a:t>Динамика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035921"/>
            <a:ext cx="1905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Темп продаж и текущая доля выкупа мест.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0950" y="3506390"/>
            <a:ext cx="237529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Montserrat"/>
              </a:rPr>
              <a:t>Статика Арены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0950" y="3915965"/>
            <a:ext cx="190500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Вместимость секторов и владельцы абонементов.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626346"/>
            <a:ext cx="237529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Montserrat"/>
              </a:rPr>
              <a:t>Календарь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4035921"/>
            <a:ext cx="1905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Дни недели. Влияние выходных на явку.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1650" y="3626346"/>
            <a:ext cx="2375296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11111"/>
                </a:solidFill>
                <a:latin typeface="Montserrat"/>
              </a:rPr>
              <a:t>Соперники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1650" y="4035921"/>
            <a:ext cx="1905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22 уникальных оппонента в чемпионате КХЛ.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19325"/>
            <a:ext cx="6066532" cy="3552825"/>
          </a:xfrm>
          <a:prstGeom prst="roundRect">
            <a:avLst>
              <a:gd name="adj" fmla="val 4289"/>
            </a:avLst>
          </a:prstGeom>
          <a:solidFill>
            <a:srgbClr val="F8F9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23925" y="2533650"/>
            <a:ext cx="5437882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3667125"/>
            <a:ext cx="5437882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25" y="4800600"/>
            <a:ext cx="5437882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28332" y="2728912"/>
            <a:ext cx="942975" cy="266700"/>
          </a:xfrm>
          <a:prstGeom prst="roundRect">
            <a:avLst>
              <a:gd name="adj" fmla="val 21428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3925" y="3667125"/>
            <a:ext cx="38100" cy="657225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90257" y="3862387"/>
            <a:ext cx="781050" cy="266700"/>
          </a:xfrm>
          <a:prstGeom prst="roundRect">
            <a:avLst>
              <a:gd name="adj" fmla="val 21428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3925" y="4800600"/>
            <a:ext cx="38100" cy="6572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85457" y="4986337"/>
            <a:ext cx="1085850" cy="28575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4425" y="269081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52525" y="38242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52525" y="49577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191" y="3343275"/>
            <a:ext cx="1333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191" y="4476750"/>
            <a:ext cx="1333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332" y="2658516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332" y="3664297"/>
            <a:ext cx="22860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3332" y="4670077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31837"/>
                </a:solidFill>
                <a:latin typeface="Montserrat"/>
              </a:rPr>
              <a:t>ВЫБОР МОДЕЛИ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89535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111"/>
                </a:solidFill>
                <a:latin typeface="Montserrat"/>
              </a:rPr>
              <a:t>Архитектура нейросети TensorFlow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3582" y="2786062"/>
            <a:ext cx="847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11111"/>
                </a:solidFill>
                <a:latin typeface="Montserrat"/>
              </a:rPr>
              <a:t>Shape: (42,)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5507" y="3919537"/>
            <a:ext cx="6858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31837"/>
                </a:solidFill>
                <a:latin typeface="Montserrat"/>
              </a:rPr>
              <a:t>Dense(4)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0707" y="5043487"/>
            <a:ext cx="9906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Montserrat"/>
              </a:rPr>
              <a:t>Target ∈ [0,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" y="269081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Times New Roman"/>
              </a:rPr>
              <a:t>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" y="382428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Times New Roman"/>
              </a:rPr>
              <a:t>H1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650" y="4957762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8FAFC"/>
                </a:solidFill>
                <a:latin typeface="Times New Roman"/>
              </a:rPr>
              <a:t>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1007" y="2620416"/>
            <a:ext cx="461099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111"/>
                </a:solidFill>
                <a:latin typeface="Montserrat"/>
              </a:rPr>
              <a:t>Защита от переобучения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1007" y="2906166"/>
            <a:ext cx="4096642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B5563"/>
                </a:solidFill>
                <a:latin typeface="Inter"/>
              </a:rPr>
              <a:t>Всего 177 параметров для исключения переобучения на небольшом датасете.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432" y="3626197"/>
            <a:ext cx="463956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111"/>
                </a:solidFill>
                <a:latin typeface="Montserrat"/>
              </a:rPr>
              <a:t>Выходная активация Sigmoid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432" y="3911947"/>
            <a:ext cx="4125217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B5563"/>
                </a:solidFill>
                <a:latin typeface="Inter"/>
              </a:rPr>
              <a:t>Строго ограничивает предсказание доли выкупа диапазоном [0, 1].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432" y="4631977"/>
            <a:ext cx="463956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111"/>
                </a:solidFill>
                <a:latin typeface="Montserrat"/>
              </a:rPr>
              <a:t>Физика процесса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2432" y="4917727"/>
            <a:ext cx="4125217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B5563"/>
                </a:solidFill>
                <a:latin typeface="Inter"/>
              </a:rPr>
              <a:t>Исключает выдачу аномальных или «отрицательных» прогнозов.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9725" y="2686050"/>
            <a:ext cx="328791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11111"/>
                </a:solidFill>
                <a:latin typeface="Montserrat"/>
              </a:rPr>
              <a:t>Входной вектор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9725" y="2876550"/>
            <a:ext cx="3131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B7280"/>
                </a:solidFill>
                <a:latin typeface="Inter"/>
              </a:rPr>
              <a:t>42 признака (динамика, статика, дни)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7825" y="3819525"/>
            <a:ext cx="27003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 dirty="0" err="1">
                <a:solidFill>
                  <a:srgbClr val="111111"/>
                </a:solidFill>
                <a:latin typeface="Montserrat"/>
              </a:rPr>
              <a:t>Скрытый</a:t>
            </a:r>
            <a:r>
              <a:rPr sz="1275" b="1" i="0" u="none" dirty="0">
                <a:solidFill>
                  <a:srgbClr val="111111"/>
                </a:solidFill>
                <a:latin typeface="Montserrat"/>
              </a:rPr>
              <a:t> </a:t>
            </a:r>
            <a:r>
              <a:rPr sz="1275" b="1" i="0" u="none" dirty="0" err="1">
                <a:solidFill>
                  <a:srgbClr val="111111"/>
                </a:solidFill>
                <a:latin typeface="Montserrat"/>
              </a:rPr>
              <a:t>слой</a:t>
            </a:r>
            <a:r>
              <a:rPr sz="1275" b="1" i="0" u="none" dirty="0">
                <a:solidFill>
                  <a:srgbClr val="111111"/>
                </a:solidFill>
                <a:latin typeface="Montserrat"/>
              </a:rPr>
              <a:t> Dense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7825" y="4010025"/>
            <a:ext cx="2571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B7280"/>
                </a:solidFill>
                <a:latin typeface="Inter"/>
              </a:rPr>
              <a:t>4 нейрона • Активация Sigmoid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7825" y="4953000"/>
            <a:ext cx="258782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11111"/>
                </a:solidFill>
                <a:latin typeface="Montserrat"/>
              </a:rPr>
              <a:t>Выходной слой Dense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7825" y="5143500"/>
            <a:ext cx="24645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B7280"/>
                </a:solidFill>
                <a:latin typeface="Inter"/>
              </a:rPr>
              <a:t>1 нейрон • Активация Sigmoid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86475" y="3295650"/>
            <a:ext cx="19050" cy="1905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381000" y="762000"/>
            <a:ext cx="12954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E31837"/>
                </a:solidFill>
                <a:latin typeface="Montserrat"/>
              </a:rPr>
              <a:t>МЕТРИКА КАЧЕСТВА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1085850"/>
            <a:ext cx="1295400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11111"/>
                </a:solidFill>
                <a:latin typeface="Montserrat"/>
              </a:rPr>
              <a:t>Точность на отложенной выборке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" y="3271837"/>
            <a:ext cx="47625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6B7280"/>
                </a:solidFill>
                <a:latin typeface="Montserrat"/>
              </a:rPr>
              <a:t>Базовый алгоритм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225" y="3700462"/>
            <a:ext cx="4762500" cy="1066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sz="8400" b="1" i="0" u="none">
                <a:solidFill>
                  <a:srgbClr val="0F172A"/>
                </a:solidFill>
                <a:latin typeface="Montserrat"/>
              </a:rPr>
              <a:t>0.245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4995862"/>
            <a:ext cx="4762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B7280"/>
                </a:solidFill>
                <a:latin typeface="Inter"/>
              </a:rPr>
              <a:t>Историческое среднее.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275" y="3271837"/>
            <a:ext cx="47625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E31837"/>
                </a:solidFill>
                <a:latin typeface="Montserrat"/>
              </a:rPr>
              <a:t>Нейронная сеть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1275" y="3700462"/>
            <a:ext cx="4762500" cy="1066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sz="8400" b="1" i="0" u="none">
                <a:solidFill>
                  <a:srgbClr val="111111"/>
                </a:solidFill>
                <a:latin typeface="Montserrat"/>
              </a:rPr>
              <a:t>0.105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275" y="4995862"/>
            <a:ext cx="4762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11111"/>
                </a:solidFill>
                <a:latin typeface="Inter"/>
              </a:rPr>
              <a:t>Ошибка снижена на 57%.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62400" y="2933700"/>
            <a:ext cx="5219700" cy="45720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962400" y="3943350"/>
            <a:ext cx="5219700" cy="45720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962400" y="4953000"/>
            <a:ext cx="5219700" cy="45720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62400" y="2933700"/>
            <a:ext cx="10438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62400" y="3943350"/>
            <a:ext cx="2348805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62400" y="4953000"/>
            <a:ext cx="4175670" cy="457200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31837"/>
                </a:solidFill>
                <a:latin typeface="Montserrat"/>
              </a:rPr>
              <a:t>РАЗРЕЗ ТОЧНОСТИ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85850"/>
            <a:ext cx="1158240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11111"/>
                </a:solidFill>
                <a:latin typeface="Montserrat"/>
              </a:rPr>
              <a:t>Где прогноз наиболее точен?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7850" y="3024187"/>
            <a:ext cx="18097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>
                <a:solidFill>
                  <a:srgbClr val="0F172A"/>
                </a:solidFill>
                <a:latin typeface="Times New Roman"/>
              </a:rPr>
              <a:t>RMSE &lt; 0.08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7850" y="4033837"/>
            <a:ext cx="18097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>
                <a:solidFill>
                  <a:srgbClr val="0F172A"/>
                </a:solidFill>
                <a:latin typeface="Times New Roman"/>
              </a:rPr>
              <a:t>RMSE ~ 0.11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7850" y="5043487"/>
            <a:ext cx="18097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>
                <a:solidFill>
                  <a:srgbClr val="E31837"/>
                </a:solidFill>
                <a:latin typeface="Times New Roman"/>
              </a:rPr>
              <a:t>RMSE &gt; 0.15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6075"/>
            <a:ext cx="35004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Зоны 3, 4,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38500"/>
            <a:ext cx="3333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Стабильно высокий спрос.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5725"/>
            <a:ext cx="35004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Зоны 7,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48150"/>
            <a:ext cx="3333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Средняя предсказуемость.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05375"/>
            <a:ext cx="35004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Зоны 2,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3333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Спонтанные покупки.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362325"/>
            <a:ext cx="3352800" cy="1619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419600" y="3362325"/>
            <a:ext cx="3352800" cy="1619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0" y="3495675"/>
            <a:ext cx="3352800" cy="1352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362325"/>
            <a:ext cx="3352800" cy="38100"/>
          </a:xfrm>
          <a:prstGeom prst="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19600" y="3362325"/>
            <a:ext cx="3352800" cy="38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0" y="3495675"/>
            <a:ext cx="3352800" cy="381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7620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31837"/>
                </a:solidFill>
                <a:latin typeface="Montserrat"/>
              </a:rPr>
              <a:t>АНАЛИЗ ОТКЛОНЕНИЙ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85850"/>
            <a:ext cx="1158240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11111"/>
                </a:solidFill>
                <a:latin typeface="Montserrat"/>
              </a:rPr>
              <a:t>Где и почему ошибается модель?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705225"/>
            <a:ext cx="44005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11111"/>
                </a:solidFill>
                <a:latin typeface="Montserrat"/>
              </a:rPr>
              <a:t>Зона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181475"/>
            <a:ext cx="34480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Отрицательная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корреляция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.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Спрос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зависит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от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маркетинга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последних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дней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3705225"/>
            <a:ext cx="440055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11111"/>
                </a:solidFill>
                <a:latin typeface="Montserrat"/>
              </a:rPr>
              <a:t>Амур и Сочи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4181475"/>
            <a:ext cx="34480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Непопулярные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соперники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.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Аномально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низкий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интерес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аудитории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ломает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прогноз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838575"/>
            <a:ext cx="39624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11111"/>
                </a:solidFill>
                <a:latin typeface="Montserrat"/>
              </a:rPr>
              <a:t>Понедельники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314825"/>
            <a:ext cx="34480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Исторический спад. День с самой минимальной базовой явкой.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595687"/>
            <a:ext cx="609600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805362"/>
            <a:ext cx="609600" cy="190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1147762"/>
            <a:ext cx="6858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31837"/>
                </a:solidFill>
                <a:latin typeface="Montserrat"/>
              </a:rPr>
              <a:t>ИНСАЙТЫ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471612"/>
            <a:ext cx="720090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11111"/>
                </a:solidFill>
                <a:latin typeface="Montserrat"/>
              </a:rPr>
              <a:t>Драйверы спроса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81262"/>
            <a:ext cx="72009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Прайм-тайм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33687"/>
            <a:ext cx="5581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Пятница и Воскресенье стабильно генерируют органический трафик.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919537"/>
            <a:ext cx="72009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База аудитории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271962"/>
            <a:ext cx="685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B5563"/>
                </a:solidFill>
                <a:latin typeface="Inter"/>
              </a:rPr>
              <a:t>Абонементы — мощный математический драйвер явки.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29212"/>
            <a:ext cx="72009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11111"/>
                </a:solidFill>
                <a:latin typeface="Montserrat"/>
              </a:rPr>
              <a:t>Топ-раздражители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481637"/>
            <a:ext cx="547265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Лада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Торпедо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 и </a:t>
            </a:r>
            <a:r>
              <a:rPr sz="1500" b="0" i="0" u="none" dirty="0" err="1">
                <a:solidFill>
                  <a:srgbClr val="4B5563"/>
                </a:solidFill>
                <a:latin typeface="Inter"/>
              </a:rPr>
              <a:t>Трактор</a:t>
            </a:r>
            <a:r>
              <a:rPr lang="ru-RU" sz="1500" dirty="0">
                <a:solidFill>
                  <a:srgbClr val="4B5563"/>
                </a:solidFill>
                <a:latin typeface="Inter"/>
              </a:rPr>
              <a:t> увеличивают продажи билетов</a:t>
            </a:r>
            <a:r>
              <a:rPr sz="1500" b="0" i="0" u="none" dirty="0">
                <a:solidFill>
                  <a:srgbClr val="4B5563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550" y="3716535"/>
            <a:ext cx="3810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3716535"/>
            <a:ext cx="3810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4262" y="3716535"/>
            <a:ext cx="333375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-381000" y="1350764"/>
            <a:ext cx="12954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E31837"/>
                </a:solidFill>
                <a:latin typeface="Montserrat"/>
              </a:rPr>
              <a:t>ВЫВОДЫ ДЛЯ КЛУБА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381000" y="1674614"/>
            <a:ext cx="12954000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Montserrat"/>
              </a:rPr>
              <a:t>Как использовать прогноз</a:t>
            </a:r>
            <a:r>
              <a:t>
</a:t>
            </a:r>
            <a:r>
              <a:rPr sz="4200" b="1" i="0" u="none">
                <a:solidFill>
                  <a:srgbClr val="FFFFFF"/>
                </a:solidFill>
                <a:latin typeface="Montserrat"/>
              </a:rPr>
              <a:t> для роста выручки?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164" y="4326135"/>
            <a:ext cx="418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Montserrat"/>
              </a:rPr>
              <a:t>Динамический прайсинг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781" y="4735710"/>
            <a:ext cx="398468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A1A1AA"/>
                </a:solidFill>
                <a:latin typeface="Inter"/>
              </a:rPr>
              <a:t>Внедрить скидки на волатильные Зоны 2 и 6 за 14 дней до матча.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4113" y="4326135"/>
            <a:ext cx="418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Montserrat"/>
              </a:rPr>
              <a:t>Точечный маркетинг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3730" y="4735710"/>
            <a:ext cx="39846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A1A1AA"/>
                </a:solidFill>
                <a:latin typeface="Inter"/>
              </a:rPr>
              <a:t>Перенаправить бюджет с топ-матчей на Понедельники и игры с аутсайдерами.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9063" y="4326135"/>
            <a:ext cx="4183921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FFFFF"/>
                </a:solidFill>
                <a:latin typeface="Montserrat"/>
              </a:rPr>
              <a:t>Управление квотами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8680" y="4735710"/>
            <a:ext cx="398468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A1A1AA"/>
                </a:solidFill>
                <a:latin typeface="Inter"/>
              </a:rPr>
              <a:t>Использовать отсечку в 10 дней для запуска экстренных спецразмещений.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413</Words>
  <Application>Microsoft Office PowerPoint</Application>
  <PresentationFormat>Широкоэкранный</PresentationFormat>
  <Paragraphs>95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Montserrat</vt:lpstr>
      <vt:lpstr>Inter</vt:lpstr>
      <vt:lpstr>Times New Roman</vt:lpstr>
      <vt:lpstr>Arial</vt:lpstr>
      <vt:lpstr>Calibri</vt:lpstr>
      <vt:lpstr>Inter ExtraBold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Максим Семёнов</cp:lastModifiedBy>
  <cp:revision>3</cp:revision>
  <dcterms:created xsi:type="dcterms:W3CDTF">2013-01-27T09:14:16Z</dcterms:created>
  <dcterms:modified xsi:type="dcterms:W3CDTF">2026-10-08T14:00:23Z</dcterms:modified>
  <cp:category/>
</cp:coreProperties>
</file>